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Gelasio" panose="020B0604020202020204" charset="0"/>
      <p:regular r:id="rId21"/>
    </p:embeddedFont>
    <p:embeddedFont>
      <p:font typeface="Lato" panose="020B0604020202020204" charset="0"/>
      <p:regular r:id="rId22"/>
    </p:embeddedFont>
    <p:embeddedFont>
      <p:font typeface="Lato Bold" panose="020B0604020202020204" charset="0"/>
      <p:regular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6177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" action="ppaction://noaction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svg"/><Relationship Id="rId3" Type="http://schemas.openxmlformats.org/officeDocument/2006/relationships/image" Target="../media/image21.jpeg"/><Relationship Id="rId7" Type="http://schemas.openxmlformats.org/officeDocument/2006/relationships/image" Target="../media/image25.sv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svg"/><Relationship Id="rId5" Type="http://schemas.openxmlformats.org/officeDocument/2006/relationships/image" Target="../media/image23.sv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jpeg"/><Relationship Id="rId4" Type="http://schemas.openxmlformats.org/officeDocument/2006/relationships/image" Target="../media/image3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107132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DishWise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762720"/>
            <a:ext cx="4722763" cy="1834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38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עוזר תזונה, קניות ובישול מותאם אישית באמצעות AI</a:t>
            </a:r>
            <a:endParaRPr lang="he-IL" sz="3850" dirty="0"/>
          </a:p>
        </p:txBody>
      </p:sp>
      <p:sp>
        <p:nvSpPr>
          <p:cNvPr id="5" name="Text 2"/>
          <p:cNvSpPr/>
          <p:nvPr/>
        </p:nvSpPr>
        <p:spPr>
          <a:xfrm>
            <a:off x="38919" y="3809479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פרויקט גמר — </a:t>
            </a:r>
            <a:r>
              <a:rPr lang="he-IL" altLang="en-US" sz="11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גליה ברטוב ואודליה ישראלוב</a:t>
            </a:r>
            <a:endParaRPr lang="he-IL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8831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הבעיה: הבישול הביתי לא תמיד פשוט</a:t>
            </a:r>
            <a:endParaRPr lang="he-IL" sz="2750" dirty="0"/>
          </a:p>
        </p:txBody>
      </p:sp>
      <p:sp>
        <p:nvSpPr>
          <p:cNvPr id="3" name="Shape 1"/>
          <p:cNvSpPr/>
          <p:nvPr/>
        </p:nvSpPr>
        <p:spPr>
          <a:xfrm>
            <a:off x="6025158" y="1914823"/>
            <a:ext cx="2622724" cy="1062707"/>
          </a:xfrm>
          <a:prstGeom prst="roundRect">
            <a:avLst>
              <a:gd name="adj" fmla="val 5603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71679" y="2061344"/>
            <a:ext cx="2329681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🍽️</a:t>
            </a:r>
            <a:r>
              <a:rPr lang="he-IL" alt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מה לבשל?</a:t>
            </a:r>
            <a:endParaRPr lang="he-IL" sz="1350" dirty="0"/>
          </a:p>
        </p:txBody>
      </p:sp>
      <p:sp>
        <p:nvSpPr>
          <p:cNvPr id="5" name="Text 3"/>
          <p:cNvSpPr/>
          <p:nvPr/>
        </p:nvSpPr>
        <p:spPr>
          <a:xfrm>
            <a:off x="6171679" y="2377380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קושי להחליט מה להכין מהמצרכים שכבר נמצאים בבית</a:t>
            </a:r>
            <a:endParaRPr lang="he-IL" sz="1100" dirty="0"/>
          </a:p>
        </p:txBody>
      </p:sp>
      <p:sp>
        <p:nvSpPr>
          <p:cNvPr id="6" name="Shape 4"/>
          <p:cNvSpPr/>
          <p:nvPr/>
        </p:nvSpPr>
        <p:spPr>
          <a:xfrm>
            <a:off x="3260675" y="1914823"/>
            <a:ext cx="2622724" cy="1062707"/>
          </a:xfrm>
          <a:prstGeom prst="roundRect">
            <a:avLst>
              <a:gd name="adj" fmla="val 5603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07197" y="2061344"/>
            <a:ext cx="2329681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⚠️</a:t>
            </a:r>
            <a:r>
              <a:rPr lang="he-IL" alt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מגבלות והעדפות</a:t>
            </a:r>
            <a:endParaRPr lang="he-IL" sz="1350" dirty="0"/>
          </a:p>
        </p:txBody>
      </p:sp>
      <p:sp>
        <p:nvSpPr>
          <p:cNvPr id="8" name="Text 6"/>
          <p:cNvSpPr/>
          <p:nvPr/>
        </p:nvSpPr>
        <p:spPr>
          <a:xfrm>
            <a:off x="3407197" y="2377380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קושי להתאים ארוחות לאלרגיות, רגישויות ותזונה מיוחדת</a:t>
            </a:r>
            <a:endParaRPr lang="he-IL" sz="1100" dirty="0"/>
          </a:p>
        </p:txBody>
      </p:sp>
      <p:sp>
        <p:nvSpPr>
          <p:cNvPr id="9" name="Shape 7"/>
          <p:cNvSpPr/>
          <p:nvPr/>
        </p:nvSpPr>
        <p:spPr>
          <a:xfrm>
            <a:off x="496193" y="1914823"/>
            <a:ext cx="2622724" cy="1062707"/>
          </a:xfrm>
          <a:prstGeom prst="roundRect">
            <a:avLst>
              <a:gd name="adj" fmla="val 5603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714" y="2061344"/>
            <a:ext cx="2329681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🏷️</a:t>
            </a:r>
            <a:r>
              <a:rPr lang="he-IL" alt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תוויות מזון</a:t>
            </a:r>
            <a:endParaRPr lang="he-IL" sz="1350" dirty="0"/>
          </a:p>
        </p:txBody>
      </p:sp>
      <p:sp>
        <p:nvSpPr>
          <p:cNvPr id="11" name="Text 9"/>
          <p:cNvSpPr/>
          <p:nvPr/>
        </p:nvSpPr>
        <p:spPr>
          <a:xfrm>
            <a:off x="642714" y="2377380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קריאת תוויות מבלבלת — קשה לזהות אלרגנים וערכים תזונתיים</a:t>
            </a:r>
            <a:endParaRPr lang="he-IL" sz="1100" dirty="0"/>
          </a:p>
        </p:txBody>
      </p:sp>
      <p:sp>
        <p:nvSpPr>
          <p:cNvPr id="12" name="Shape 10"/>
          <p:cNvSpPr/>
          <p:nvPr/>
        </p:nvSpPr>
        <p:spPr>
          <a:xfrm>
            <a:off x="4642917" y="3119289"/>
            <a:ext cx="4004965" cy="835893"/>
          </a:xfrm>
          <a:prstGeom prst="roundRect">
            <a:avLst>
              <a:gd name="adj" fmla="val 7123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9438" y="3265810"/>
            <a:ext cx="3711922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🛒</a:t>
            </a:r>
            <a:r>
              <a:rPr lang="he-IL" alt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רשימת קניות</a:t>
            </a:r>
            <a:endParaRPr lang="he-IL" sz="1350" dirty="0"/>
          </a:p>
        </p:txBody>
      </p:sp>
      <p:sp>
        <p:nvSpPr>
          <p:cNvPr id="14" name="Text 12"/>
          <p:cNvSpPr/>
          <p:nvPr/>
        </p:nvSpPr>
        <p:spPr>
          <a:xfrm>
            <a:off x="4789438" y="3581846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הכנה ידנית של רשימות קניות גוזלת זמן ואנרגיה</a:t>
            </a:r>
            <a:endParaRPr lang="he-IL" sz="1100" dirty="0"/>
          </a:p>
        </p:txBody>
      </p:sp>
      <p:sp>
        <p:nvSpPr>
          <p:cNvPr id="15" name="Shape 13"/>
          <p:cNvSpPr/>
          <p:nvPr/>
        </p:nvSpPr>
        <p:spPr>
          <a:xfrm>
            <a:off x="496193" y="3119289"/>
            <a:ext cx="4004965" cy="835893"/>
          </a:xfrm>
          <a:prstGeom prst="roundRect">
            <a:avLst>
              <a:gd name="adj" fmla="val 7123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714" y="3265810"/>
            <a:ext cx="3711922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♻️</a:t>
            </a:r>
            <a:r>
              <a:rPr lang="he-IL" alt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בזבוז מזון</a:t>
            </a:r>
            <a:endParaRPr lang="he-IL" sz="1350" dirty="0"/>
          </a:p>
        </p:txBody>
      </p:sp>
      <p:sp>
        <p:nvSpPr>
          <p:cNvPr id="17" name="Text 15"/>
          <p:cNvSpPr/>
          <p:nvPr/>
        </p:nvSpPr>
        <p:spPr>
          <a:xfrm>
            <a:off x="642714" y="3581846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מצרכים שנשכחים במקרר ומתבזבזים ללא תכנון ארוחות</a:t>
            </a:r>
            <a:endParaRPr lang="he-IL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7957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הפתרון: הכל במקום אחד</a:t>
            </a:r>
            <a:endParaRPr lang="he-IL" sz="2750" dirty="0"/>
          </a:p>
        </p:txBody>
      </p:sp>
      <p:sp>
        <p:nvSpPr>
          <p:cNvPr id="3" name="Text 1"/>
          <p:cNvSpPr/>
          <p:nvPr/>
        </p:nvSpPr>
        <p:spPr>
          <a:xfrm>
            <a:off x="323851" y="1606079"/>
            <a:ext cx="8781232" cy="267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33000"/>
              </a:lnSpc>
            </a:pPr>
            <a:r>
              <a:rPr lang="he-IL" sz="1100">
                <a:solidFill>
                  <a:srgbClr val="272525"/>
                </a:solidFill>
                <a:latin typeface="Lato" pitchFamily="34" charset="0"/>
              </a:rPr>
              <a:t>מרכזת </a:t>
            </a:r>
            <a:r>
              <a:rPr lang="he-IL" sz="1100" dirty="0">
                <a:solidFill>
                  <a:srgbClr val="272525"/>
                </a:solidFill>
                <a:latin typeface="Lato" pitchFamily="34" charset="0"/>
              </a:rPr>
              <a:t>את הכלים הדרושים לבישול חכם, מותאם ובריא יותר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</a:rPr>
              <a:t> </a:t>
            </a:r>
            <a:r>
              <a:rPr lang="he-IL" altLang="en-US" sz="1100" dirty="0" err="1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DishWise</a:t>
            </a:r>
            <a:r>
              <a:rPr lang="he-IL" sz="1100" dirty="0">
                <a:solidFill>
                  <a:srgbClr val="272525"/>
                </a:solidFill>
                <a:latin typeface="Lato" pitchFamily="34" charset="0"/>
              </a:rPr>
              <a:t> </a:t>
            </a:r>
            <a:endParaRPr lang="he-IL" sz="1100" dirty="0"/>
          </a:p>
          <a:p>
            <a:pPr algn="r">
              <a:lnSpc>
                <a:spcPct val="133000"/>
              </a:lnSpc>
            </a:pPr>
            <a:endParaRPr lang="he-IL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64364" y="1992362"/>
            <a:ext cx="283518" cy="2835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60627" y="2453060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שיחה טבעית</a:t>
            </a:r>
            <a:endParaRPr lang="he-IL" sz="1350" dirty="0"/>
          </a:p>
        </p:txBody>
      </p:sp>
      <p:sp>
        <p:nvSpPr>
          <p:cNvPr id="6" name="Text 3"/>
          <p:cNvSpPr/>
          <p:nvPr/>
        </p:nvSpPr>
        <p:spPr>
          <a:xfrm>
            <a:off x="4660627" y="2759571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עוזר בישול חכם שמבין שאלות בשפה חופשית ומגיב בצורה מותאמת</a:t>
            </a:r>
            <a:endParaRPr lang="he-IL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99930" y="1992362"/>
            <a:ext cx="283518" cy="283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6119" y="2453060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זיהוי תמונות</a:t>
            </a:r>
            <a:endParaRPr lang="he-IL" sz="1350" dirty="0"/>
          </a:p>
        </p:txBody>
      </p:sp>
      <p:sp>
        <p:nvSpPr>
          <p:cNvPr id="9" name="Text 5"/>
          <p:cNvSpPr/>
          <p:nvPr/>
        </p:nvSpPr>
        <p:spPr>
          <a:xfrm>
            <a:off x="496119" y="2759571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ניתוח תמונות של מקרר, מזווה ותוויות מזון באמצעות Vision</a:t>
            </a:r>
            <a:endParaRPr lang="he-IL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64364" y="3269903"/>
            <a:ext cx="283518" cy="2835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60627" y="3730600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מאגר ידע חכם</a:t>
            </a:r>
            <a:endParaRPr lang="he-IL" sz="1350" dirty="0"/>
          </a:p>
        </p:txBody>
      </p:sp>
      <p:sp>
        <p:nvSpPr>
          <p:cNvPr id="12" name="Text 7"/>
          <p:cNvSpPr/>
          <p:nvPr/>
        </p:nvSpPr>
        <p:spPr>
          <a:xfrm>
            <a:off x="4660627" y="4037112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שליפת מידע ממאגר מותאם אישית עם מתכונים, מדריכים והנחיות</a:t>
            </a:r>
            <a:endParaRPr lang="he-IL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99930" y="3269903"/>
            <a:ext cx="283518" cy="28351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6119" y="3730600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מתכון ורשימת קניות</a:t>
            </a:r>
            <a:endParaRPr lang="he-IL" sz="1350" dirty="0"/>
          </a:p>
        </p:txBody>
      </p:sp>
      <p:sp>
        <p:nvSpPr>
          <p:cNvPr id="15" name="Text 9"/>
          <p:cNvSpPr/>
          <p:nvPr/>
        </p:nvSpPr>
        <p:spPr>
          <a:xfrm>
            <a:off x="496119" y="4037112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יצירה אוטומטית של מתכון מובנה ורשימת קניות מסודרת</a:t>
            </a:r>
            <a:endParaRPr lang="he-IL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5103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קהל היעד</a:t>
            </a:r>
            <a:endParaRPr lang="he-IL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7754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33000"/>
              </a:lnSpc>
            </a:pPr>
            <a:r>
              <a:rPr lang="en-US" alt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</a:t>
            </a:r>
            <a:r>
              <a:rPr lang="he-IL" alt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פונה לארבע קבוצות משתמשים מרכזיות עם צרכים מגוונים</a:t>
            </a:r>
            <a:r>
              <a:rPr lang="en-US" alt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he-IL" alt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he-IL" altLang="en-US" sz="1100" dirty="0" err="1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DishWise</a:t>
            </a:r>
            <a:r>
              <a:rPr lang="he-IL" alt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alt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he-IL" alt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:</a:t>
            </a:r>
            <a:endParaRPr lang="he-IL" sz="1100" dirty="0"/>
          </a:p>
        </p:txBody>
      </p:sp>
      <p:sp>
        <p:nvSpPr>
          <p:cNvPr id="4" name="Shape 2"/>
          <p:cNvSpPr/>
          <p:nvPr/>
        </p:nvSpPr>
        <p:spPr>
          <a:xfrm>
            <a:off x="4642917" y="1663824"/>
            <a:ext cx="4004965" cy="1393403"/>
          </a:xfrm>
          <a:prstGeom prst="roundRect">
            <a:avLst>
              <a:gd name="adj" fmla="val 4273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76084" y="1810345"/>
            <a:ext cx="425276" cy="425276"/>
          </a:xfrm>
          <a:prstGeom prst="ellipse">
            <a:avLst/>
          </a:prstGeom>
          <a:solidFill>
            <a:srgbClr val="E5E5E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93063" y="1927250"/>
            <a:ext cx="191319" cy="1913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89438" y="2377380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סטודנטים ואנשים עסוקים</a:t>
            </a:r>
            <a:endParaRPr lang="he-IL" sz="1350" dirty="0"/>
          </a:p>
        </p:txBody>
      </p:sp>
      <p:sp>
        <p:nvSpPr>
          <p:cNvPr id="8" name="Text 5"/>
          <p:cNvSpPr/>
          <p:nvPr/>
        </p:nvSpPr>
        <p:spPr>
          <a:xfrm>
            <a:off x="4789438" y="2683892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ארוחות מהירות, פשוטות וחסכוניות עם מה שיש בבית</a:t>
            </a:r>
            <a:endParaRPr lang="he-IL" sz="1100" dirty="0"/>
          </a:p>
        </p:txBody>
      </p:sp>
      <p:sp>
        <p:nvSpPr>
          <p:cNvPr id="9" name="Shape 6"/>
          <p:cNvSpPr/>
          <p:nvPr/>
        </p:nvSpPr>
        <p:spPr>
          <a:xfrm>
            <a:off x="496119" y="1663824"/>
            <a:ext cx="4005039" cy="1393403"/>
          </a:xfrm>
          <a:prstGeom prst="roundRect">
            <a:avLst>
              <a:gd name="adj" fmla="val 4273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929360" y="1810345"/>
            <a:ext cx="425276" cy="425276"/>
          </a:xfrm>
          <a:prstGeom prst="ellipse">
            <a:avLst/>
          </a:prstGeom>
          <a:solidFill>
            <a:srgbClr val="E5E5E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46339" y="1927250"/>
            <a:ext cx="191319" cy="1913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2640" y="2377380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משפחות</a:t>
            </a:r>
            <a:endParaRPr lang="he-IL" sz="1350" dirty="0"/>
          </a:p>
        </p:txBody>
      </p:sp>
      <p:sp>
        <p:nvSpPr>
          <p:cNvPr id="13" name="Text 9"/>
          <p:cNvSpPr/>
          <p:nvPr/>
        </p:nvSpPr>
        <p:spPr>
          <a:xfrm>
            <a:off x="642640" y="2683892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תכנון ארוחות משפחתי והפחתת בזבוז מזון שוטף</a:t>
            </a:r>
            <a:endParaRPr lang="he-IL" sz="1100" dirty="0"/>
          </a:p>
        </p:txBody>
      </p:sp>
      <p:sp>
        <p:nvSpPr>
          <p:cNvPr id="14" name="Shape 10"/>
          <p:cNvSpPr/>
          <p:nvPr/>
        </p:nvSpPr>
        <p:spPr>
          <a:xfrm>
            <a:off x="4642917" y="3198986"/>
            <a:ext cx="4004965" cy="1393403"/>
          </a:xfrm>
          <a:prstGeom prst="roundRect">
            <a:avLst>
              <a:gd name="adj" fmla="val 4273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76084" y="3345507"/>
            <a:ext cx="425276" cy="425276"/>
          </a:xfrm>
          <a:prstGeom prst="ellipse">
            <a:avLst/>
          </a:prstGeom>
          <a:solidFill>
            <a:srgbClr val="E5E5E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93063" y="3462412"/>
            <a:ext cx="191319" cy="1913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89438" y="3912543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אנשים עם רגישויות</a:t>
            </a:r>
            <a:endParaRPr lang="he-IL" sz="1350" dirty="0"/>
          </a:p>
        </p:txBody>
      </p:sp>
      <p:sp>
        <p:nvSpPr>
          <p:cNvPr id="18" name="Text 13"/>
          <p:cNvSpPr/>
          <p:nvPr/>
        </p:nvSpPr>
        <p:spPr>
          <a:xfrm>
            <a:off x="4789438" y="4219054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התאמה לגלוטן, לקטוז, אלרגיות ומגבלות תזונתיות</a:t>
            </a:r>
            <a:endParaRPr lang="he-IL" sz="1100" dirty="0"/>
          </a:p>
        </p:txBody>
      </p:sp>
      <p:sp>
        <p:nvSpPr>
          <p:cNvPr id="19" name="Shape 14"/>
          <p:cNvSpPr/>
          <p:nvPr/>
        </p:nvSpPr>
        <p:spPr>
          <a:xfrm>
            <a:off x="496119" y="3198986"/>
            <a:ext cx="4005039" cy="1393403"/>
          </a:xfrm>
          <a:prstGeom prst="roundRect">
            <a:avLst>
              <a:gd name="adj" fmla="val 4273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929360" y="3345507"/>
            <a:ext cx="425276" cy="425276"/>
          </a:xfrm>
          <a:prstGeom prst="ellipse">
            <a:avLst/>
          </a:prstGeom>
          <a:solidFill>
            <a:srgbClr val="E5E5E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46339" y="3462412"/>
            <a:ext cx="191319" cy="19131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2640" y="3912543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תזונה חכמה</a:t>
            </a:r>
            <a:endParaRPr lang="he-IL" sz="1350" dirty="0"/>
          </a:p>
        </p:txBody>
      </p:sp>
      <p:sp>
        <p:nvSpPr>
          <p:cNvPr id="23" name="Text 17"/>
          <p:cNvSpPr/>
          <p:nvPr/>
        </p:nvSpPr>
        <p:spPr>
          <a:xfrm>
            <a:off x="642640" y="4219054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הבנה מעמיקה של מוצרי מזון וערכים תזונתיים</a:t>
            </a:r>
            <a:endParaRPr lang="he-IL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חוויית המשתמש</a:t>
            </a:r>
            <a:endParaRPr lang="he-IL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1148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1356" y="2341587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0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הגדרות אישיות</a:t>
            </a:r>
            <a:endParaRPr lang="he-IL" sz="1000" dirty="0"/>
          </a:p>
        </p:txBody>
      </p:sp>
      <p:sp>
        <p:nvSpPr>
          <p:cNvPr id="5" name="Text 2"/>
          <p:cNvSpPr/>
          <p:nvPr/>
        </p:nvSpPr>
        <p:spPr>
          <a:xfrm>
            <a:off x="34156" y="2493466"/>
            <a:ext cx="444393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1000"/>
              </a:lnSpc>
              <a:buNone/>
            </a:pPr>
            <a:r>
              <a:rPr lang="he-IL" alt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לפני תחילת השיחה, המשתמש מגדיר את הפרופיל שלו:</a:t>
            </a:r>
            <a:endParaRPr lang="he-IL" sz="1000" dirty="0"/>
          </a:p>
        </p:txBody>
      </p:sp>
      <p:sp>
        <p:nvSpPr>
          <p:cNvPr id="6" name="Text 3"/>
          <p:cNvSpPr/>
          <p:nvPr/>
        </p:nvSpPr>
        <p:spPr>
          <a:xfrm>
            <a:off x="431800" y="2691731"/>
            <a:ext cx="4046289" cy="679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11760" indent="-111760" algn="r" rtl="1">
              <a:lnSpc>
                <a:spcPct val="101000"/>
              </a:lnSpc>
              <a:buSzPct val="100000"/>
              <a:buChar char="•"/>
            </a:pPr>
            <a:r>
              <a:rPr lang="he-IL" alt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תזונה טבעונית או צמחונית</a:t>
            </a:r>
            <a:endParaRPr lang="he-IL" sz="1000" dirty="0"/>
          </a:p>
          <a:p>
            <a:pPr marL="111760" indent="-111760" algn="r" rtl="1">
              <a:lnSpc>
                <a:spcPct val="101000"/>
              </a:lnSpc>
              <a:buSzPct val="100000"/>
              <a:buChar char="•"/>
            </a:pPr>
            <a:r>
              <a:rPr lang="he-IL" alt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ללא גלוטן / ללא לקטוז</a:t>
            </a:r>
            <a:endParaRPr lang="he-IL" sz="1000" dirty="0"/>
          </a:p>
          <a:p>
            <a:pPr marL="111760" indent="-111760" algn="r" rtl="1">
              <a:lnSpc>
                <a:spcPct val="101000"/>
              </a:lnSpc>
              <a:buSzPct val="100000"/>
              <a:buChar char="•"/>
            </a:pPr>
            <a:r>
              <a:rPr lang="he-IL" alt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אלרגיות ספציפיות</a:t>
            </a:r>
            <a:endParaRPr lang="he-IL" sz="1000" dirty="0"/>
          </a:p>
          <a:p>
            <a:pPr marL="111760" indent="-111760" algn="r" rtl="1">
              <a:lnSpc>
                <a:spcPct val="101000"/>
              </a:lnSpc>
              <a:buSzPct val="100000"/>
              <a:buChar char="•"/>
            </a:pPr>
            <a:r>
              <a:rPr lang="he-IL" alt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זמן הכנה מקסימלי </a:t>
            </a:r>
          </a:p>
          <a:p>
            <a:pPr marL="111760" indent="-111760" algn="r" rtl="1">
              <a:lnSpc>
                <a:spcPct val="101000"/>
              </a:lnSpc>
              <a:buSzPct val="100000"/>
              <a:buChar char="•"/>
            </a:pPr>
            <a:r>
              <a:rPr lang="he-IL" alt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מספר מנות רצוי</a:t>
            </a:r>
          </a:p>
          <a:p>
            <a:pPr marL="111760" indent="-111760" algn="r" rtl="1">
              <a:lnSpc>
                <a:spcPct val="101000"/>
              </a:lnSpc>
              <a:buSzPct val="100000"/>
              <a:buChar char="•"/>
            </a:pPr>
            <a:endParaRPr lang="he-IL" altLang="en-US" sz="1000" dirty="0">
              <a:solidFill>
                <a:srgbClr val="272525"/>
              </a:solidFill>
              <a:latin typeface="Lato" pitchFamily="34" charset="0"/>
              <a:ea typeface="Lato" pitchFamily="34" charset="-122"/>
              <a:cs typeface="Lato" pitchFamily="34" charset="-120"/>
            </a:endParaRPr>
          </a:p>
          <a:p>
            <a:pPr marL="111760" indent="-111760" algn="r" rtl="1">
              <a:lnSpc>
                <a:spcPct val="101000"/>
              </a:lnSpc>
              <a:buSzPct val="100000"/>
              <a:buChar char="•"/>
            </a:pPr>
            <a:endParaRPr lang="he-IL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09947"/>
            <a:ext cx="4722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2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ארבע היכולות המרכזיות</a:t>
            </a:r>
            <a:endParaRPr lang="he-IL" sz="2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1038597"/>
            <a:ext cx="4722763" cy="823987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4461" y="1347564"/>
            <a:ext cx="205978" cy="20597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197471" y="1194941"/>
            <a:ext cx="3865066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Conversational AI</a:t>
            </a:r>
            <a:endParaRPr lang="en-US" sz="1350" dirty="0"/>
          </a:p>
        </p:txBody>
      </p:sp>
      <p:sp>
        <p:nvSpPr>
          <p:cNvPr id="7" name="Text 2"/>
          <p:cNvSpPr/>
          <p:nvPr/>
        </p:nvSpPr>
        <p:spPr>
          <a:xfrm>
            <a:off x="1197471" y="1489249"/>
            <a:ext cx="3865066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1000"/>
              </a:lnSpc>
              <a:buNone/>
            </a:pPr>
            <a:r>
              <a:rPr lang="he-IL" alt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שיחה טבעית עם המשתמש ומתן הצעות בישול מותאמות</a:t>
            </a:r>
            <a:endParaRPr lang="he-IL" sz="10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1995562"/>
            <a:ext cx="4722763" cy="823987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4461" y="2304529"/>
            <a:ext cx="205978" cy="205978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1197471" y="2151906"/>
            <a:ext cx="3865066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Vision Input</a:t>
            </a:r>
            <a:endParaRPr lang="en-US" sz="1350" dirty="0"/>
          </a:p>
        </p:txBody>
      </p:sp>
      <p:sp>
        <p:nvSpPr>
          <p:cNvPr id="11" name="Text 4"/>
          <p:cNvSpPr/>
          <p:nvPr/>
        </p:nvSpPr>
        <p:spPr>
          <a:xfrm>
            <a:off x="1197471" y="2446213"/>
            <a:ext cx="3865066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1000"/>
              </a:lnSpc>
              <a:buNone/>
            </a:pPr>
            <a:r>
              <a:rPr lang="he-IL" alt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ניתוח תמונות של מקרר, מזווה ותוויות מזון</a:t>
            </a:r>
            <a:endParaRPr lang="he-IL" sz="105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952527"/>
            <a:ext cx="4722763" cy="823987"/>
          </a:xfrm>
          <a:prstGeom prst="rect">
            <a:avLst/>
          </a:prstGeom>
        </p:spPr>
      </p:pic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4461" y="3261494"/>
            <a:ext cx="205978" cy="205978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1197471" y="3108871"/>
            <a:ext cx="3865066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RAG</a:t>
            </a:r>
            <a:endParaRPr lang="en-US" sz="1350" dirty="0"/>
          </a:p>
        </p:txBody>
      </p:sp>
      <p:sp>
        <p:nvSpPr>
          <p:cNvPr id="15" name="Text 6"/>
          <p:cNvSpPr/>
          <p:nvPr/>
        </p:nvSpPr>
        <p:spPr>
          <a:xfrm>
            <a:off x="1197471" y="3403178"/>
            <a:ext cx="3865066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1000"/>
              </a:lnSpc>
              <a:buNone/>
            </a:pPr>
            <a:r>
              <a:rPr lang="he-IL" alt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שליפת מידע ממאגר ידע מותאם אישית באמצעות Embeddings</a:t>
            </a:r>
            <a:endParaRPr lang="he-IL" sz="105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909492"/>
            <a:ext cx="4722763" cy="823987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4461" y="4218459"/>
            <a:ext cx="205978" cy="205978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1197471" y="4065836"/>
            <a:ext cx="3865066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Structured Outputs</a:t>
            </a:r>
            <a:endParaRPr lang="en-US" sz="1350" dirty="0"/>
          </a:p>
        </p:txBody>
      </p:sp>
      <p:sp>
        <p:nvSpPr>
          <p:cNvPr id="19" name="Text 8"/>
          <p:cNvSpPr/>
          <p:nvPr/>
        </p:nvSpPr>
        <p:spPr>
          <a:xfrm>
            <a:off x="1197471" y="4360143"/>
            <a:ext cx="3865066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1000"/>
              </a:lnSpc>
              <a:buNone/>
            </a:pPr>
            <a:r>
              <a:rPr lang="he-IL" alt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יצירת מתכון ורשימת קניות במבנה JSON קבוע ואמין</a:t>
            </a:r>
            <a:endParaRPr lang="he-IL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2954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שיחה עם העוזר + ניתוח תמונות</a:t>
            </a:r>
            <a:endParaRPr lang="he-IL" sz="2750" dirty="0"/>
          </a:p>
        </p:txBody>
      </p:sp>
      <p:sp>
        <p:nvSpPr>
          <p:cNvPr id="3" name="Shape 1"/>
          <p:cNvSpPr/>
          <p:nvPr/>
        </p:nvSpPr>
        <p:spPr>
          <a:xfrm>
            <a:off x="4642842" y="1285131"/>
            <a:ext cx="4107135" cy="3228826"/>
          </a:xfrm>
          <a:prstGeom prst="roundRect">
            <a:avLst>
              <a:gd name="adj" fmla="val 3161"/>
            </a:avLst>
          </a:prstGeom>
          <a:solidFill>
            <a:srgbClr val="E5E5E0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784601" y="1426890"/>
            <a:ext cx="3823618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💬</a:t>
            </a: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Conversational 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589169" y="1817340"/>
            <a:ext cx="19050" cy="708645"/>
          </a:xfrm>
          <a:prstGeom prst="roundRect">
            <a:avLst>
              <a:gd name="adj" fmla="val 60000"/>
            </a:avLst>
          </a:prstGeom>
          <a:solidFill>
            <a:srgbClr val="E5E5E0"/>
          </a:solidFill>
          <a:ln/>
        </p:spPr>
      </p:sp>
      <p:sp>
        <p:nvSpPr>
          <p:cNvPr id="6" name="Text 4"/>
          <p:cNvSpPr/>
          <p:nvPr/>
        </p:nvSpPr>
        <p:spPr>
          <a:xfrm>
            <a:off x="4784601" y="1944886"/>
            <a:ext cx="361101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"יש לי אורז, טונה, תירס ועגבניות — מה אפשר להכין לארוחת ערב מהירה?"</a:t>
            </a:r>
            <a:endParaRPr lang="he-IL" sz="1100" dirty="0"/>
          </a:p>
        </p:txBody>
      </p:sp>
      <p:sp>
        <p:nvSpPr>
          <p:cNvPr id="7" name="Text 5"/>
          <p:cNvSpPr/>
          <p:nvPr/>
        </p:nvSpPr>
        <p:spPr>
          <a:xfrm>
            <a:off x="4784601" y="2685529"/>
            <a:ext cx="3823618" cy="807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33000"/>
              </a:lnSpc>
              <a:spcAft>
                <a:spcPts val="1000"/>
              </a:spcAft>
              <a:buNone/>
            </a:pPr>
            <a:r>
              <a:rPr lang="he-IL" alt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התשובה כוללת: רעיון למנה, רכיבים, שלבי הכנה, התאמה לזמן ולמנות, והתייחסות להעדפות המשתמש.</a:t>
            </a:r>
            <a:endParaRPr lang="he-IL" sz="1100" dirty="0"/>
          </a:p>
          <a:p>
            <a:pPr marL="0" indent="0" algn="r" rtl="1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מבוסס </a:t>
            </a:r>
            <a:r>
              <a:rPr lang="he-IL" altLang="en-US" sz="11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OpenAI Responses API</a:t>
            </a:r>
            <a:endParaRPr lang="he-IL" sz="1100" dirty="0"/>
          </a:p>
        </p:txBody>
      </p:sp>
      <p:sp>
        <p:nvSpPr>
          <p:cNvPr id="8" name="Text 6"/>
          <p:cNvSpPr/>
          <p:nvPr/>
        </p:nvSpPr>
        <p:spPr>
          <a:xfrm>
            <a:off x="491356" y="1426890"/>
            <a:ext cx="3902943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📷</a:t>
            </a: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Vision Input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4156" y="1799630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he-IL" altLang="en-US" sz="11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צילום מקרר / מזווה</a:t>
            </a:r>
            <a:endParaRPr lang="he-IL" sz="1100" dirty="0"/>
          </a:p>
        </p:txBody>
      </p:sp>
      <p:sp>
        <p:nvSpPr>
          <p:cNvPr id="10" name="Text 8"/>
          <p:cNvSpPr/>
          <p:nvPr/>
        </p:nvSpPr>
        <p:spPr>
          <a:xfrm>
            <a:off x="491356" y="2153989"/>
            <a:ext cx="3902943" cy="50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r" rtl="1">
              <a:lnSpc>
                <a:spcPct val="133000"/>
              </a:lnSpc>
              <a:buSzPct val="100000"/>
              <a:buChar char="•"/>
            </a:pPr>
            <a:r>
              <a:rPr lang="he-IL" alt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זיהוי מצרכים אפשריים</a:t>
            </a:r>
            <a:endParaRPr lang="he-IL" sz="1100" dirty="0"/>
          </a:p>
          <a:p>
            <a:pPr marL="223520" indent="-223520" algn="r" rtl="1">
              <a:lnSpc>
                <a:spcPct val="133000"/>
              </a:lnSpc>
              <a:buSzPct val="100000"/>
              <a:buChar char="•"/>
            </a:pPr>
            <a:r>
              <a:rPr lang="he-IL" alt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הצעת מתכונים בהתאם לנמצא</a:t>
            </a:r>
            <a:endParaRPr lang="he-IL" sz="1100" dirty="0"/>
          </a:p>
        </p:txBody>
      </p:sp>
      <p:sp>
        <p:nvSpPr>
          <p:cNvPr id="11" name="Text 9"/>
          <p:cNvSpPr/>
          <p:nvPr/>
        </p:nvSpPr>
        <p:spPr>
          <a:xfrm>
            <a:off x="34156" y="2784723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he-IL" altLang="en-US" sz="11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צילום תווית מזון</a:t>
            </a:r>
            <a:endParaRPr lang="he-IL" sz="1100" dirty="0"/>
          </a:p>
        </p:txBody>
      </p:sp>
      <p:sp>
        <p:nvSpPr>
          <p:cNvPr id="12" name="Text 10"/>
          <p:cNvSpPr/>
          <p:nvPr/>
        </p:nvSpPr>
        <p:spPr>
          <a:xfrm>
            <a:off x="491356" y="3139083"/>
            <a:ext cx="3902943" cy="50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r" rtl="1">
              <a:lnSpc>
                <a:spcPct val="133000"/>
              </a:lnSpc>
              <a:buSzPct val="100000"/>
              <a:buChar char="•"/>
            </a:pPr>
            <a:r>
              <a:rPr lang="he-IL" alt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זיהוי רכיבים וערכים תזונתיים</a:t>
            </a:r>
            <a:endParaRPr lang="he-IL" sz="1100" dirty="0"/>
          </a:p>
          <a:p>
            <a:pPr marL="223520" indent="-223520" algn="r" rtl="1">
              <a:lnSpc>
                <a:spcPct val="133000"/>
              </a:lnSpc>
              <a:buSzPct val="100000"/>
              <a:buChar char="•"/>
            </a:pPr>
            <a:r>
              <a:rPr lang="he-IL" alt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איתור אלרגנים אפשריים</a:t>
            </a:r>
            <a:endParaRPr lang="he-IL" sz="1100" dirty="0"/>
          </a:p>
        </p:txBody>
      </p:sp>
      <p:sp>
        <p:nvSpPr>
          <p:cNvPr id="13" name="Shape 11"/>
          <p:cNvSpPr/>
          <p:nvPr/>
        </p:nvSpPr>
        <p:spPr>
          <a:xfrm>
            <a:off x="491356" y="3801740"/>
            <a:ext cx="3902943" cy="552748"/>
          </a:xfrm>
          <a:prstGeom prst="roundRect">
            <a:avLst>
              <a:gd name="adj" fmla="val 10772"/>
            </a:avLst>
          </a:prstGeom>
          <a:solidFill>
            <a:srgbClr val="FCF2B5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15" y="4021559"/>
            <a:ext cx="177180" cy="141759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94854" y="3964707"/>
            <a:ext cx="375768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במקרה של אלרגיה — יש לבדוק תמיד את האריזה המקורית</a:t>
            </a:r>
            <a:endParaRPr lang="he-IL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6318"/>
            <a:ext cx="8151763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he-IL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ומאגר הידע </a:t>
            </a:r>
            <a:r>
              <a:rPr lang="en-US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RAG </a:t>
            </a:r>
            <a:r>
              <a:rPr lang="he-IL" alt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endParaRPr lang="he-IL" sz="2200" dirty="0"/>
          </a:p>
        </p:txBody>
      </p:sp>
      <p:sp>
        <p:nvSpPr>
          <p:cNvPr id="3" name="Text 1"/>
          <p:cNvSpPr/>
          <p:nvPr/>
        </p:nvSpPr>
        <p:spPr>
          <a:xfrm>
            <a:off x="4709815" y="1004218"/>
            <a:ext cx="393806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1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תהליך העבודה</a:t>
            </a:r>
            <a:endParaRPr lang="he-IL" sz="1100" dirty="0"/>
          </a:p>
        </p:txBody>
      </p:sp>
      <p:sp>
        <p:nvSpPr>
          <p:cNvPr id="4" name="Text 2"/>
          <p:cNvSpPr/>
          <p:nvPr/>
        </p:nvSpPr>
        <p:spPr>
          <a:xfrm>
            <a:off x="8421960" y="1281931"/>
            <a:ext cx="225921" cy="141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 rtl="1">
              <a:lnSpc>
                <a:spcPct val="10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01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709815" y="1459557"/>
            <a:ext cx="3938067" cy="14288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6" name="Text 4"/>
          <p:cNvSpPr/>
          <p:nvPr/>
        </p:nvSpPr>
        <p:spPr>
          <a:xfrm>
            <a:off x="4709815" y="1544613"/>
            <a:ext cx="393806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he-IL" alt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מסמכים בתיקיית </a:t>
            </a:r>
            <a:r>
              <a:rPr lang="he-IL" altLang="en-US" sz="8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r>
              <a:rPr lang="he-IL" alt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מחולקים לקטעי מידע</a:t>
            </a:r>
            <a:endParaRPr lang="he-IL" sz="850" dirty="0"/>
          </a:p>
        </p:txBody>
      </p:sp>
      <p:sp>
        <p:nvSpPr>
          <p:cNvPr id="7" name="Text 5"/>
          <p:cNvSpPr/>
          <p:nvPr/>
        </p:nvSpPr>
        <p:spPr>
          <a:xfrm>
            <a:off x="8421960" y="1881634"/>
            <a:ext cx="225921" cy="141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 rtl="1">
              <a:lnSpc>
                <a:spcPct val="10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709815" y="2059260"/>
            <a:ext cx="3938067" cy="14288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9" name="Text 7"/>
          <p:cNvSpPr/>
          <p:nvPr/>
        </p:nvSpPr>
        <p:spPr>
          <a:xfrm>
            <a:off x="4709815" y="2144316"/>
            <a:ext cx="393806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he-IL" alt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יצירת </a:t>
            </a:r>
            <a:r>
              <a:rPr lang="he-IL" altLang="en-US" sz="8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Embeddings</a:t>
            </a:r>
            <a:r>
              <a:rPr lang="he-IL" alt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באמצעות OpenAI Embeddings API</a:t>
            </a:r>
            <a:endParaRPr lang="he-IL" sz="850" dirty="0"/>
          </a:p>
        </p:txBody>
      </p:sp>
      <p:sp>
        <p:nvSpPr>
          <p:cNvPr id="10" name="Text 8"/>
          <p:cNvSpPr/>
          <p:nvPr/>
        </p:nvSpPr>
        <p:spPr>
          <a:xfrm>
            <a:off x="8421960" y="2481337"/>
            <a:ext cx="225921" cy="141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 rtl="1">
              <a:lnSpc>
                <a:spcPct val="10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03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09815" y="2658963"/>
            <a:ext cx="3938067" cy="14288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815" y="2744019"/>
            <a:ext cx="393806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he-IL" alt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שמירת הקטעים ב-</a:t>
            </a:r>
            <a:r>
              <a:rPr lang="he-IL" altLang="en-US" sz="8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ChromaDB</a:t>
            </a:r>
            <a:endParaRPr lang="he-IL" sz="850" dirty="0"/>
          </a:p>
        </p:txBody>
      </p:sp>
      <p:sp>
        <p:nvSpPr>
          <p:cNvPr id="13" name="Text 11"/>
          <p:cNvSpPr/>
          <p:nvPr/>
        </p:nvSpPr>
        <p:spPr>
          <a:xfrm>
            <a:off x="8421960" y="3081040"/>
            <a:ext cx="225921" cy="141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 rtl="1">
              <a:lnSpc>
                <a:spcPct val="10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04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09815" y="3258666"/>
            <a:ext cx="3938067" cy="14288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815" y="3343721"/>
            <a:ext cx="393806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he-IL" alt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שאלה חדשה → שליפת קטעים רלוונטיים</a:t>
            </a:r>
            <a:endParaRPr lang="he-IL" sz="850" dirty="0"/>
          </a:p>
        </p:txBody>
      </p:sp>
      <p:sp>
        <p:nvSpPr>
          <p:cNvPr id="16" name="Text 14"/>
          <p:cNvSpPr/>
          <p:nvPr/>
        </p:nvSpPr>
        <p:spPr>
          <a:xfrm>
            <a:off x="8421960" y="3680743"/>
            <a:ext cx="225921" cy="141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 rtl="1">
              <a:lnSpc>
                <a:spcPct val="10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05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09815" y="3858369"/>
            <a:ext cx="3938067" cy="14288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815" y="3943424"/>
            <a:ext cx="393806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he-IL" alt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המודל מייצר תשובה על בסיס המידע שנשלף</a:t>
            </a:r>
            <a:endParaRPr lang="he-IL" sz="850" dirty="0"/>
          </a:p>
        </p:txBody>
      </p:sp>
      <p:sp>
        <p:nvSpPr>
          <p:cNvPr id="19" name="Shape 17"/>
          <p:cNvSpPr/>
          <p:nvPr/>
        </p:nvSpPr>
        <p:spPr>
          <a:xfrm>
            <a:off x="8633594" y="4291682"/>
            <a:ext cx="14288" cy="324296"/>
          </a:xfrm>
          <a:prstGeom prst="roundRect">
            <a:avLst>
              <a:gd name="adj" fmla="val 59998"/>
            </a:avLst>
          </a:prstGeom>
          <a:solidFill>
            <a:srgbClr val="E5E5E0"/>
          </a:solidFill>
          <a:ln/>
        </p:spPr>
      </p:sp>
      <p:sp>
        <p:nvSpPr>
          <p:cNvPr id="20" name="Text 18"/>
          <p:cNvSpPr/>
          <p:nvPr/>
        </p:nvSpPr>
        <p:spPr>
          <a:xfrm>
            <a:off x="4252615" y="4372645"/>
            <a:ext cx="4225826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he-IL" alt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"לפי מדריך התחליפים, במה אפשר להחליף ביצה באפייה?"</a:t>
            </a:r>
            <a:endParaRPr lang="he-IL" sz="850" dirty="0"/>
          </a:p>
        </p:txBody>
      </p:sp>
      <p:sp>
        <p:nvSpPr>
          <p:cNvPr id="21" name="Text 19"/>
          <p:cNvSpPr/>
          <p:nvPr/>
        </p:nvSpPr>
        <p:spPr>
          <a:xfrm>
            <a:off x="491356" y="1004218"/>
            <a:ext cx="393806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1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תוכן מאגר הידע</a:t>
            </a:r>
            <a:endParaRPr lang="he-IL" sz="1100" dirty="0"/>
          </a:p>
        </p:txBody>
      </p:sp>
      <p:sp>
        <p:nvSpPr>
          <p:cNvPr id="22" name="Shape 20"/>
          <p:cNvSpPr/>
          <p:nvPr/>
        </p:nvSpPr>
        <p:spPr>
          <a:xfrm>
            <a:off x="2505373" y="1281931"/>
            <a:ext cx="1924050" cy="421481"/>
          </a:xfrm>
          <a:prstGeom prst="roundRect">
            <a:avLst>
              <a:gd name="adj" fmla="val 11257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23096" y="1399654"/>
            <a:ext cx="168860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1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📖</a:t>
            </a:r>
            <a:r>
              <a:rPr lang="he-IL" altLang="en-US" sz="11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מתכונים</a:t>
            </a:r>
            <a:endParaRPr lang="he-IL" sz="1100" dirty="0"/>
          </a:p>
        </p:txBody>
      </p:sp>
      <p:sp>
        <p:nvSpPr>
          <p:cNvPr id="24" name="Shape 22"/>
          <p:cNvSpPr/>
          <p:nvPr/>
        </p:nvSpPr>
        <p:spPr>
          <a:xfrm>
            <a:off x="491356" y="1281931"/>
            <a:ext cx="1924050" cy="421481"/>
          </a:xfrm>
          <a:prstGeom prst="roundRect">
            <a:avLst>
              <a:gd name="adj" fmla="val 11257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9079" y="1399654"/>
            <a:ext cx="168860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1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⚠️</a:t>
            </a:r>
            <a:r>
              <a:rPr lang="he-IL" altLang="en-US" sz="11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מדריך אלרגנים</a:t>
            </a:r>
            <a:endParaRPr lang="he-IL" sz="1100" dirty="0"/>
          </a:p>
        </p:txBody>
      </p:sp>
      <p:sp>
        <p:nvSpPr>
          <p:cNvPr id="26" name="Shape 24"/>
          <p:cNvSpPr/>
          <p:nvPr/>
        </p:nvSpPr>
        <p:spPr>
          <a:xfrm>
            <a:off x="2505373" y="1793379"/>
            <a:ext cx="1924050" cy="421481"/>
          </a:xfrm>
          <a:prstGeom prst="roundRect">
            <a:avLst>
              <a:gd name="adj" fmla="val 11257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23096" y="1911102"/>
            <a:ext cx="168860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1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🔄</a:t>
            </a:r>
            <a:r>
              <a:rPr lang="he-IL" altLang="en-US" sz="11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מדריך תחליפי מזון</a:t>
            </a:r>
            <a:endParaRPr lang="he-IL" sz="1100" dirty="0"/>
          </a:p>
        </p:txBody>
      </p:sp>
      <p:sp>
        <p:nvSpPr>
          <p:cNvPr id="28" name="Shape 26"/>
          <p:cNvSpPr/>
          <p:nvPr/>
        </p:nvSpPr>
        <p:spPr>
          <a:xfrm>
            <a:off x="491356" y="1793379"/>
            <a:ext cx="1924050" cy="421481"/>
          </a:xfrm>
          <a:prstGeom prst="roundRect">
            <a:avLst>
              <a:gd name="adj" fmla="val 11257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9079" y="1911102"/>
            <a:ext cx="168860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1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🥗</a:t>
            </a:r>
            <a:r>
              <a:rPr lang="he-IL" altLang="en-US" sz="11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הנחיות תזונתיות</a:t>
            </a:r>
            <a:endParaRPr lang="he-IL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9501"/>
            <a:ext cx="8151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he-IL" altLang="en-US" sz="2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Structured Outputs — מתכון במבנה JSON</a:t>
            </a:r>
            <a:endParaRPr lang="he-IL" sz="2350" dirty="0"/>
          </a:p>
        </p:txBody>
      </p:sp>
      <p:sp>
        <p:nvSpPr>
          <p:cNvPr id="3" name="Text 1"/>
          <p:cNvSpPr/>
          <p:nvPr/>
        </p:nvSpPr>
        <p:spPr>
          <a:xfrm>
            <a:off x="38919" y="985093"/>
            <a:ext cx="860896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23000"/>
              </a:lnSpc>
              <a:buNone/>
            </a:pPr>
            <a:r>
              <a:rPr lang="he-IL" alt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המערכת מחזירה מתכון במבנה </a:t>
            </a:r>
            <a:r>
              <a:rPr lang="he-IL" altLang="en-US" sz="9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JSON</a:t>
            </a:r>
            <a:r>
              <a:rPr lang="he-IL" alt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קבוע ומוגדר מראש, המאפשר הצגה מסודרת ואמינה בממשק Streamlit:</a:t>
            </a:r>
            <a:endParaRPr lang="he-IL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4528" y="1388418"/>
            <a:ext cx="2663354" cy="4545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18399" y="1522288"/>
            <a:ext cx="233846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שם המתכון ותיאור קצר</a:t>
            </a:r>
            <a:endParaRPr lang="he-IL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4528" y="1943919"/>
            <a:ext cx="2663354" cy="4545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18399" y="2077789"/>
            <a:ext cx="233846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זמן הכנה ומספר מנות</a:t>
            </a:r>
            <a:endParaRPr lang="he-IL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4528" y="2499420"/>
            <a:ext cx="2663354" cy="45459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118399" y="2633290"/>
            <a:ext cx="233846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רשימת רכיבים + סימון קיים בבית</a:t>
            </a:r>
            <a:endParaRPr lang="he-IL" sz="11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4528" y="3054921"/>
            <a:ext cx="2663354" cy="45459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18399" y="3188791"/>
            <a:ext cx="233846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שלבי הכנה מובנים</a:t>
            </a:r>
            <a:endParaRPr lang="he-IL" sz="11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4528" y="3610421"/>
            <a:ext cx="2663354" cy="45459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118399" y="3744292"/>
            <a:ext cx="233846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אלרגנים אפשריים + הערת בטיחות</a:t>
            </a:r>
            <a:endParaRPr lang="he-IL" sz="11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4528" y="4165922"/>
            <a:ext cx="2663354" cy="454596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118399" y="4299793"/>
            <a:ext cx="233846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רשימת קניות + הערה תזונתית</a:t>
            </a:r>
            <a:endParaRPr lang="he-IL" sz="115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430" y="1542976"/>
            <a:ext cx="5196483" cy="29229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ארכיטקטורת המערכת</a:t>
            </a:r>
            <a:endParaRPr lang="he-IL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366" y="682154"/>
            <a:ext cx="5579343" cy="4428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78059" y="2532876"/>
            <a:ext cx="1002649" cy="687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rtl="1">
              <a:lnSpc>
                <a:spcPct val="104000"/>
              </a:lnSpc>
              <a:buNone/>
            </a:pPr>
            <a:r>
              <a:rPr lang="he-IL" altLang="en-US" sz="14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ארכיטקטורת מערכת Streamlit</a:t>
            </a:r>
            <a:endParaRPr lang="he-IL" sz="1400" dirty="0"/>
          </a:p>
        </p:txBody>
      </p:sp>
      <p:sp>
        <p:nvSpPr>
          <p:cNvPr id="5" name="Text 2"/>
          <p:cNvSpPr/>
          <p:nvPr/>
        </p:nvSpPr>
        <p:spPr>
          <a:xfrm>
            <a:off x="2602743" y="1221866"/>
            <a:ext cx="1491619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ct val="104000"/>
              </a:lnSpc>
              <a:buNone/>
            </a:pPr>
            <a:r>
              <a:rPr lang="he-IL" altLang="en-US" sz="14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ממשק משתמש</a:t>
            </a:r>
            <a:endParaRPr lang="he-IL" sz="1400" dirty="0"/>
          </a:p>
        </p:txBody>
      </p:sp>
      <p:sp>
        <p:nvSpPr>
          <p:cNvPr id="6" name="Text 3"/>
          <p:cNvSpPr/>
          <p:nvPr/>
        </p:nvSpPr>
        <p:spPr>
          <a:xfrm>
            <a:off x="2602743" y="1516343"/>
            <a:ext cx="1491619" cy="137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he-IL" altLang="en-US" sz="11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Streamlit לקבלת בקשות</a:t>
            </a:r>
            <a:endParaRPr lang="he-IL" sz="1150" dirty="0"/>
          </a:p>
        </p:txBody>
      </p:sp>
      <p:sp>
        <p:nvSpPr>
          <p:cNvPr id="7" name="Text 4"/>
          <p:cNvSpPr/>
          <p:nvPr/>
        </p:nvSpPr>
        <p:spPr>
          <a:xfrm>
            <a:off x="5088988" y="1153087"/>
            <a:ext cx="1491619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ct val="104000"/>
              </a:lnSpc>
              <a:buNone/>
            </a:pPr>
            <a:r>
              <a:rPr lang="he-IL" altLang="en-US" sz="14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תוצאה מרכזית</a:t>
            </a:r>
            <a:endParaRPr lang="he-IL" sz="1400" dirty="0"/>
          </a:p>
        </p:txBody>
      </p:sp>
      <p:sp>
        <p:nvSpPr>
          <p:cNvPr id="8" name="Text 5"/>
          <p:cNvSpPr/>
          <p:nvPr/>
        </p:nvSpPr>
        <p:spPr>
          <a:xfrm>
            <a:off x="5088988" y="1447564"/>
            <a:ext cx="1491619" cy="275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rtl="1">
              <a:lnSpc>
                <a:spcPct val="78000"/>
              </a:lnSpc>
              <a:buNone/>
            </a:pPr>
            <a:r>
              <a:rPr lang="he-IL" altLang="en-US" sz="11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תשובה, מתכון, רשימת קניות או ניתוח תמונה</a:t>
            </a:r>
            <a:endParaRPr lang="he-IL" sz="1150" dirty="0"/>
          </a:p>
        </p:txBody>
      </p:sp>
      <p:sp>
        <p:nvSpPr>
          <p:cNvPr id="9" name="Text 6"/>
          <p:cNvSpPr/>
          <p:nvPr/>
        </p:nvSpPr>
        <p:spPr>
          <a:xfrm>
            <a:off x="5088988" y="4063215"/>
            <a:ext cx="1491619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ct val="104000"/>
              </a:lnSpc>
              <a:buNone/>
            </a:pPr>
            <a:r>
              <a:rPr lang="he-IL" altLang="en-US" sz="14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שאלת ידע</a:t>
            </a:r>
            <a:endParaRPr lang="he-IL" sz="1400" dirty="0"/>
          </a:p>
        </p:txBody>
      </p:sp>
      <p:sp>
        <p:nvSpPr>
          <p:cNvPr id="10" name="Text 7"/>
          <p:cNvSpPr/>
          <p:nvPr/>
        </p:nvSpPr>
        <p:spPr>
          <a:xfrm>
            <a:off x="5088988" y="4357692"/>
            <a:ext cx="1491619" cy="275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Embeddings + ChromaDB + RAG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602743" y="4063215"/>
            <a:ext cx="1491619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ct val="104000"/>
              </a:lnSpc>
              <a:buNone/>
            </a:pPr>
            <a:r>
              <a:rPr lang="he-IL" altLang="en-US" sz="14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תמונה</a:t>
            </a:r>
            <a:endParaRPr lang="he-IL" sz="1400" dirty="0"/>
          </a:p>
        </p:txBody>
      </p:sp>
      <p:sp>
        <p:nvSpPr>
          <p:cNvPr id="12" name="Text 9"/>
          <p:cNvSpPr/>
          <p:nvPr/>
        </p:nvSpPr>
        <p:spPr>
          <a:xfrm>
            <a:off x="2602743" y="4357692"/>
            <a:ext cx="1491619" cy="275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he-IL" altLang="en-US" sz="11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OpenAI Vision לעיבוד חזותי</a:t>
            </a:r>
            <a:endParaRPr lang="he-IL" sz="1150" dirty="0"/>
          </a:p>
        </p:txBody>
      </p:sp>
      <p:sp>
        <p:nvSpPr>
          <p:cNvPr id="13" name="Text 10"/>
          <p:cNvSpPr/>
          <p:nvPr/>
        </p:nvSpPr>
        <p:spPr>
          <a:xfrm>
            <a:off x="2032129" y="2656551"/>
            <a:ext cx="1524226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ct val="104000"/>
              </a:lnSpc>
              <a:buNone/>
            </a:pPr>
            <a:r>
              <a:rPr lang="he-IL" altLang="en-US" sz="14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שיחה</a:t>
            </a:r>
            <a:endParaRPr lang="he-IL" sz="1400" dirty="0"/>
          </a:p>
        </p:txBody>
      </p:sp>
      <p:sp>
        <p:nvSpPr>
          <p:cNvPr id="14" name="Text 11"/>
          <p:cNvSpPr/>
          <p:nvPr/>
        </p:nvSpPr>
        <p:spPr>
          <a:xfrm>
            <a:off x="2032129" y="2951029"/>
            <a:ext cx="1524226" cy="137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OpenAI Responses API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602539" y="2664703"/>
            <a:ext cx="1524226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ct val="104000"/>
              </a:lnSpc>
              <a:buNone/>
            </a:pPr>
            <a:r>
              <a:rPr lang="he-IL" altLang="en-US" sz="14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בקשת מתכון</a:t>
            </a:r>
            <a:endParaRPr lang="he-IL" sz="1400" dirty="0"/>
          </a:p>
        </p:txBody>
      </p:sp>
      <p:sp>
        <p:nvSpPr>
          <p:cNvPr id="16" name="Text 13"/>
          <p:cNvSpPr/>
          <p:nvPr/>
        </p:nvSpPr>
        <p:spPr>
          <a:xfrm>
            <a:off x="5602539" y="2959180"/>
            <a:ext cx="1524226" cy="13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ct val="78000"/>
              </a:lnSpc>
              <a:buNone/>
            </a:pPr>
            <a:r>
              <a:rPr lang="he-IL" altLang="en-US" sz="11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פלט מובנה JSON</a:t>
            </a:r>
            <a:endParaRPr lang="he-IL" sz="1150" dirty="0"/>
          </a:p>
        </p:txBody>
      </p:sp>
      <p:sp>
        <p:nvSpPr>
          <p:cNvPr id="17" name="Text 14"/>
          <p:cNvSpPr/>
          <p:nvPr/>
        </p:nvSpPr>
        <p:spPr>
          <a:xfrm>
            <a:off x="38919" y="5150941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0000"/>
              </a:lnSpc>
              <a:buNone/>
            </a:pPr>
            <a:r>
              <a:rPr lang="he-IL" altLang="en-US" sz="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התרשים מציג את זרימת הנתונים במערכת: מהמשתמש דרך ממשק Streamlit, דרך ארבעת מסלולי העיבוד המקבילים, ועד לתוצאה הסופית.</a:t>
            </a:r>
            <a:endParaRPr lang="he-IL" sz="550" dirty="0"/>
          </a:p>
        </p:txBody>
      </p:sp>
      <p:sp>
        <p:nvSpPr>
          <p:cNvPr id="18" name="Text 15"/>
          <p:cNvSpPr/>
          <p:nvPr/>
        </p:nvSpPr>
        <p:spPr>
          <a:xfrm>
            <a:off x="496119" y="5289128"/>
            <a:ext cx="815176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6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טכנולוגיות</a:t>
            </a:r>
            <a:endParaRPr lang="he-IL" sz="650" dirty="0"/>
          </a:p>
        </p:txBody>
      </p:sp>
      <p:sp>
        <p:nvSpPr>
          <p:cNvPr id="19" name="Shape 16"/>
          <p:cNvSpPr/>
          <p:nvPr/>
        </p:nvSpPr>
        <p:spPr>
          <a:xfrm>
            <a:off x="496119" y="5452988"/>
            <a:ext cx="319460" cy="107603"/>
          </a:xfrm>
          <a:prstGeom prst="roundRect">
            <a:avLst>
              <a:gd name="adj" fmla="val 22134"/>
            </a:avLst>
          </a:prstGeom>
          <a:solidFill>
            <a:srgbClr val="E8E8E3"/>
          </a:solidFill>
          <a:ln/>
        </p:spPr>
      </p:sp>
      <p:sp>
        <p:nvSpPr>
          <p:cNvPr id="20" name="Text 17"/>
          <p:cNvSpPr/>
          <p:nvPr/>
        </p:nvSpPr>
        <p:spPr>
          <a:xfrm>
            <a:off x="538609" y="5474196"/>
            <a:ext cx="691679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PYTHON</a:t>
            </a:r>
            <a:endParaRPr lang="en-US" sz="400" dirty="0"/>
          </a:p>
        </p:txBody>
      </p:sp>
      <p:sp>
        <p:nvSpPr>
          <p:cNvPr id="21" name="Shape 18"/>
          <p:cNvSpPr/>
          <p:nvPr/>
        </p:nvSpPr>
        <p:spPr>
          <a:xfrm>
            <a:off x="850999" y="5452988"/>
            <a:ext cx="388293" cy="107603"/>
          </a:xfrm>
          <a:prstGeom prst="roundRect">
            <a:avLst>
              <a:gd name="adj" fmla="val 22134"/>
            </a:avLst>
          </a:prstGeom>
          <a:solidFill>
            <a:srgbClr val="E8E8E3"/>
          </a:solidFill>
          <a:ln/>
        </p:spPr>
      </p:sp>
      <p:sp>
        <p:nvSpPr>
          <p:cNvPr id="22" name="Text 19"/>
          <p:cNvSpPr/>
          <p:nvPr/>
        </p:nvSpPr>
        <p:spPr>
          <a:xfrm>
            <a:off x="893490" y="5474196"/>
            <a:ext cx="760512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STREAMLIT</a:t>
            </a:r>
            <a:endParaRPr lang="en-US" sz="400" dirty="0"/>
          </a:p>
        </p:txBody>
      </p:sp>
      <p:sp>
        <p:nvSpPr>
          <p:cNvPr id="23" name="Shape 20"/>
          <p:cNvSpPr/>
          <p:nvPr/>
        </p:nvSpPr>
        <p:spPr>
          <a:xfrm>
            <a:off x="1274713" y="5452988"/>
            <a:ext cx="418579" cy="107603"/>
          </a:xfrm>
          <a:prstGeom prst="roundRect">
            <a:avLst>
              <a:gd name="adj" fmla="val 22134"/>
            </a:avLst>
          </a:prstGeom>
          <a:solidFill>
            <a:srgbClr val="E8E8E3"/>
          </a:solidFill>
          <a:ln/>
        </p:spPr>
      </p:sp>
      <p:sp>
        <p:nvSpPr>
          <p:cNvPr id="24" name="Text 21"/>
          <p:cNvSpPr/>
          <p:nvPr/>
        </p:nvSpPr>
        <p:spPr>
          <a:xfrm>
            <a:off x="1317203" y="5474196"/>
            <a:ext cx="790798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OPENAI SDK</a:t>
            </a:r>
            <a:endParaRPr lang="en-US" sz="400" dirty="0"/>
          </a:p>
        </p:txBody>
      </p:sp>
      <p:sp>
        <p:nvSpPr>
          <p:cNvPr id="25" name="Shape 22"/>
          <p:cNvSpPr/>
          <p:nvPr/>
        </p:nvSpPr>
        <p:spPr>
          <a:xfrm>
            <a:off x="1728713" y="5452988"/>
            <a:ext cx="416868" cy="107603"/>
          </a:xfrm>
          <a:prstGeom prst="roundRect">
            <a:avLst>
              <a:gd name="adj" fmla="val 22134"/>
            </a:avLst>
          </a:prstGeom>
          <a:solidFill>
            <a:srgbClr val="E8E8E3"/>
          </a:solidFill>
          <a:ln/>
        </p:spPr>
      </p:sp>
      <p:sp>
        <p:nvSpPr>
          <p:cNvPr id="26" name="Text 23"/>
          <p:cNvSpPr/>
          <p:nvPr/>
        </p:nvSpPr>
        <p:spPr>
          <a:xfrm>
            <a:off x="1771204" y="5474196"/>
            <a:ext cx="789087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CHROMADB</a:t>
            </a:r>
            <a:endParaRPr lang="en-US" sz="400" dirty="0"/>
          </a:p>
        </p:txBody>
      </p:sp>
      <p:sp>
        <p:nvSpPr>
          <p:cNvPr id="27" name="Shape 24"/>
          <p:cNvSpPr/>
          <p:nvPr/>
        </p:nvSpPr>
        <p:spPr>
          <a:xfrm>
            <a:off x="496119" y="5600402"/>
            <a:ext cx="367605" cy="107603"/>
          </a:xfrm>
          <a:prstGeom prst="roundRect">
            <a:avLst>
              <a:gd name="adj" fmla="val 22134"/>
            </a:avLst>
          </a:prstGeom>
          <a:solidFill>
            <a:srgbClr val="E8E8E3"/>
          </a:solidFill>
          <a:ln/>
        </p:spPr>
      </p:sp>
      <p:sp>
        <p:nvSpPr>
          <p:cNvPr id="28" name="Text 25"/>
          <p:cNvSpPr/>
          <p:nvPr/>
        </p:nvSpPr>
        <p:spPr>
          <a:xfrm>
            <a:off x="538609" y="5621610"/>
            <a:ext cx="739825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PYDANTIC</a:t>
            </a:r>
            <a:endParaRPr lang="en-US" sz="400" dirty="0"/>
          </a:p>
        </p:txBody>
      </p:sp>
      <p:sp>
        <p:nvSpPr>
          <p:cNvPr id="29" name="Shape 26"/>
          <p:cNvSpPr/>
          <p:nvPr/>
        </p:nvSpPr>
        <p:spPr>
          <a:xfrm>
            <a:off x="899145" y="5600402"/>
            <a:ext cx="295870" cy="107603"/>
          </a:xfrm>
          <a:prstGeom prst="roundRect">
            <a:avLst>
              <a:gd name="adj" fmla="val 22134"/>
            </a:avLst>
          </a:prstGeom>
          <a:solidFill>
            <a:srgbClr val="E8E8E3"/>
          </a:solidFill>
          <a:ln/>
        </p:spPr>
      </p:sp>
      <p:sp>
        <p:nvSpPr>
          <p:cNvPr id="30" name="Text 27"/>
          <p:cNvSpPr/>
          <p:nvPr/>
        </p:nvSpPr>
        <p:spPr>
          <a:xfrm>
            <a:off x="941636" y="5621610"/>
            <a:ext cx="668089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PILLOW</a:t>
            </a:r>
            <a:endParaRPr lang="en-US" sz="400" dirty="0"/>
          </a:p>
        </p:txBody>
      </p:sp>
      <p:sp>
        <p:nvSpPr>
          <p:cNvPr id="31" name="Shape 28"/>
          <p:cNvSpPr/>
          <p:nvPr/>
        </p:nvSpPr>
        <p:spPr>
          <a:xfrm>
            <a:off x="1230437" y="5600402"/>
            <a:ext cx="264542" cy="107603"/>
          </a:xfrm>
          <a:prstGeom prst="roundRect">
            <a:avLst>
              <a:gd name="adj" fmla="val 22134"/>
            </a:avLst>
          </a:prstGeom>
          <a:solidFill>
            <a:srgbClr val="E8E8E3"/>
          </a:solidFill>
          <a:ln/>
        </p:spPr>
      </p:sp>
      <p:sp>
        <p:nvSpPr>
          <p:cNvPr id="32" name="Text 29"/>
          <p:cNvSpPr/>
          <p:nvPr/>
        </p:nvSpPr>
        <p:spPr>
          <a:xfrm>
            <a:off x="1272927" y="5621610"/>
            <a:ext cx="636761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PYPDF</a:t>
            </a:r>
            <a:endParaRPr lang="en-US" sz="400" dirty="0"/>
          </a:p>
        </p:txBody>
      </p:sp>
      <p:sp>
        <p:nvSpPr>
          <p:cNvPr id="33" name="Shape 30"/>
          <p:cNvSpPr/>
          <p:nvPr/>
        </p:nvSpPr>
        <p:spPr>
          <a:xfrm>
            <a:off x="1530400" y="5600402"/>
            <a:ext cx="571798" cy="107603"/>
          </a:xfrm>
          <a:prstGeom prst="roundRect">
            <a:avLst>
              <a:gd name="adj" fmla="val 22134"/>
            </a:avLst>
          </a:prstGeom>
          <a:solidFill>
            <a:srgbClr val="E8E8E3"/>
          </a:solidFill>
          <a:ln/>
        </p:spPr>
      </p:sp>
      <p:sp>
        <p:nvSpPr>
          <p:cNvPr id="34" name="Text 31"/>
          <p:cNvSpPr/>
          <p:nvPr/>
        </p:nvSpPr>
        <p:spPr>
          <a:xfrm>
            <a:off x="1572890" y="5621610"/>
            <a:ext cx="944017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PYTHON-DOTENV</a:t>
            </a:r>
            <a:endParaRPr lang="en-US" sz="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550</Words>
  <Application>Microsoft Office PowerPoint</Application>
  <PresentationFormat>‫הצגה על המסך (16:9)</PresentationFormat>
  <Paragraphs>124</Paragraphs>
  <Slides>10</Slides>
  <Notes>10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7" baseType="lpstr">
      <vt:lpstr>Calibri</vt:lpstr>
      <vt:lpstr>Arial</vt:lpstr>
      <vt:lpstr>Lato</vt:lpstr>
      <vt:lpstr>Gelasio</vt:lpstr>
      <vt:lpstr>Consolas</vt:lpstr>
      <vt:lpstr>Lato Bold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subject/>
  <dc:creator/>
  <cp:lastModifiedBy>שירלי ברטוב</cp:lastModifiedBy>
  <cp:revision>4</cp:revision>
  <dcterms:created xsi:type="dcterms:W3CDTF">2026-07-22T09:13:50Z</dcterms:created>
  <dcterms:modified xsi:type="dcterms:W3CDTF">2026-07-22T10:37:46Z</dcterms:modified>
</cp:coreProperties>
</file>